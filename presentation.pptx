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37db5edd7e4153" /><Relationship Type="http://schemas.openxmlformats.org/officeDocument/2006/relationships/extended-properties" Target="/docProps/app.xml" Id="R559adba7510c40d0" /><Relationship Type="http://schemas.openxmlformats.org/officeDocument/2006/relationships/officeDocument" Target="/ppt/presentation.xml" Id="Rb05c24327be34d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1e17348e14c50"/>
  </p:sldMasterIdLst>
  <p:notesMasterIdLst>
    <p:notesMasterId xmlns:r="http://schemas.openxmlformats.org/officeDocument/2006/relationships" r:id="Rb85c51251c2e4feb"/>
  </p:notesMasterIdLst>
  <p:sldIdLst>
    <p:sldId xmlns:r="http://schemas.openxmlformats.org/officeDocument/2006/relationships" id="256" r:id="Rc9991956a6174c8e"/>
    <p:sldId xmlns:r="http://schemas.openxmlformats.org/officeDocument/2006/relationships" id="257" r:id="Rb0e55a08362c4013"/>
    <p:sldId xmlns:r="http://schemas.openxmlformats.org/officeDocument/2006/relationships" id="258" r:id="R65e832b1573347e9"/>
    <p:sldId xmlns:r="http://schemas.openxmlformats.org/officeDocument/2006/relationships" id="259" r:id="Rfec2d52b16744f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6b253d6f8a4d08" /><Relationship Type="http://schemas.openxmlformats.org/officeDocument/2006/relationships/slideMaster" Target="/ppt/slideMasters/slideMaster1.xml" Id="Rf101e17348e14c50" /><Relationship Type="http://schemas.openxmlformats.org/officeDocument/2006/relationships/notesMaster" Target="/ppt/notesMasters/notesMaster1.xml" Id="Rb85c51251c2e4feb" /><Relationship Type="http://schemas.openxmlformats.org/officeDocument/2006/relationships/presProps" Target="/ppt/presProps.xml" Id="Raa42645d27ea4daf" /><Relationship Type="http://schemas.openxmlformats.org/officeDocument/2006/relationships/tableStyles" Target="/ppt/tableStyles.xml" Id="R6cd9a9406f26494d" /><Relationship Type="http://schemas.openxmlformats.org/officeDocument/2006/relationships/slide" Target="/ppt/slides/slide1.xml" Id="Rc9991956a6174c8e" /><Relationship Type="http://schemas.openxmlformats.org/officeDocument/2006/relationships/slide" Target="/ppt/slides/slide2.xml" Id="Rb0e55a08362c4013" /><Relationship Type="http://schemas.openxmlformats.org/officeDocument/2006/relationships/slide" Target="/ppt/slides/slide3.xml" Id="R65e832b1573347e9" /><Relationship Type="http://schemas.openxmlformats.org/officeDocument/2006/relationships/slide" Target="/ppt/slides/slide4.xml" Id="Rfec2d52b16744f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767a669ad643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10a08cffb7456d" /><Relationship Type="http://schemas.openxmlformats.org/officeDocument/2006/relationships/notesMaster" Target="/ppt/notesMasters/notesMaster1.xml" Id="R57e573459ebd4b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d978e1d0b4438a" /><Relationship Type="http://schemas.openxmlformats.org/officeDocument/2006/relationships/notesMaster" Target="/ppt/notesMasters/notesMaster1.xml" Id="Rf9bfbc5e30c94c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9ffe1599a5432c" /><Relationship Type="http://schemas.openxmlformats.org/officeDocument/2006/relationships/notesMaster" Target="/ppt/notesMasters/notesMaster1.xml" Id="R7b8143df5f6a42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385e3b64d44697" /><Relationship Type="http://schemas.openxmlformats.org/officeDocument/2006/relationships/notesMaster" Target="/ppt/notesMasters/notesMaster1.xml" Id="R25ae9d66017d4f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先说使用者和问题，不讲课程日名称代替问题。指出真实输入和产品边界。目标 30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G:/summer工训/ai-summer-camp-2026/course/zh-CN/day-01-prediction/01-problem.md</a:t>
            </a:r>
          </a:p>
          <a:p xmlns:a="http://schemas.openxmlformats.org/drawingml/2006/main">
            <a:r>
              <a:t>- https://www.kaggle.com/datasets/hesh97/titanicdataset-traincsv (checked 2026-08-18)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说明基线为何简单、候选只复杂哪一步，以及比较条件如何保持相同。目标 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G:/summer工训/day-01-titanic/train.py</a:t>
            </a:r>
          </a:p>
          <a:p xmlns:a="http://schemas.openxmlformats.org/drawingml/2006/main">
            <a:r>
              <a:t>- G:/summer工训/day-01-titanic/tests/test_pipeline.py</a:t>
            </a:r>
          </a:p>
          <a:p xmlns:a="http://schemas.openxmlformats.org/drawingml/2006/main">
            <a:r>
              <a:t>- https://www.kaggle.com/datasets/hesh97/titanicdataset-traincsv (checked 2026-08-18)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只选择一条最能回答问题的证据。说出命令、指标含义和一个真实样本。目标 60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G:/summer工训/day-01-titanic/train.py</a:t>
            </a:r>
          </a:p>
          <a:p xmlns:a="http://schemas.openxmlformats.org/drawingml/2006/main">
            <a:r>
              <a:t>- Recomputed from the named Kaggle train.csv on 2026-08-18; metrics and errors stored only in the temporary QA workspace.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用失败收尾，明确不能声称什么和下一项最小检查。不要说泛泛的“数据不够”。目标 45 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G:/summer工训/day-01-titanic/train.py</a:t>
            </a:r>
          </a:p>
          <a:p xmlns:a="http://schemas.openxmlformats.org/drawingml/2006/main">
            <a:r>
              <a:t>- G:/summer工训/ai-summer-camp-2026/course/zh-CN/day-01-prediction/02-success-criteria.md</a:t>
            </a:r>
          </a:p>
          <a:p xmlns:a="http://schemas.openxmlformats.org/drawingml/2006/main">
            <a:r>
              <a:t>- Recomputed confusion matrix [[112,25],[32,54]] on 2026-08-18.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f60759bc345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3c70aa797417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eaafbe47e4a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917a2d88747c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0d840d2e24da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A6C456A-6DDF-4C75-BAAA-5F27EFBD32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26B6F8D-8102-4B5A-B0AB-151ED38A5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2DD6631-0AA1-41CE-B4DE-0C728C9517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6D1F0FE0-4CCC-47EC-ACEE-E992808E52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FCD760-43C0-4C2D-9FFC-981106446E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ntent Left">
            <a:extLst xmlns:a="http://schemas.openxmlformats.org/drawingml/2006/main">
              <a:ext uri="{FF2B5EF4-FFF2-40B4-BE49-F238E27FC236}">
                <a16:creationId xmlns:a16="http://schemas.microsoft.com/office/drawing/2014/main" id="{3F7E1E25-6801-4705-BCFB-78C35BB56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 Right">
            <a:extLst xmlns:a="http://schemas.openxmlformats.org/drawingml/2006/main">
              <a:ext uri="{FF2B5EF4-FFF2-40B4-BE49-F238E27FC236}">
                <a16:creationId xmlns:a16="http://schemas.microsoft.com/office/drawing/2014/main" id="{8E0AB0BB-17E1-4B2C-B7C7-8DC8A222CB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D12815-A85C-4C90-860A-97E75FAB1E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372ea142e54e56" /><Relationship Type="http://schemas.openxmlformats.org/officeDocument/2006/relationships/slideLayout" Target="/ppt/slideLayouts/slideLayout1.xml" Id="R88577a83a9754ace" /><Relationship Type="http://schemas.openxmlformats.org/officeDocument/2006/relationships/slideLayout" Target="/ppt/slideLayouts/slideLayout2.xml" Id="R926ba966a39b43db" /><Relationship Type="http://schemas.openxmlformats.org/officeDocument/2006/relationships/slideLayout" Target="/ppt/slideLayouts/slideLayout3.xml" Id="Ra8a65619f63e4d42" /><Relationship Type="http://schemas.openxmlformats.org/officeDocument/2006/relationships/slideLayout" Target="/ppt/slideLayouts/slideLayout4.xml" Id="R60e4c76749c5496d" /><Relationship Type="http://schemas.openxmlformats.org/officeDocument/2006/relationships/slideLayout" Target="/ppt/slideLayouts/slideLayout5.xml" Id="R785cab1bba3847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77a83a9754ace"/>
    <p:sldLayoutId xmlns:r="http://schemas.openxmlformats.org/officeDocument/2006/relationships" id="2147483650" r:id="R926ba966a39b43db"/>
    <p:sldLayoutId xmlns:r="http://schemas.openxmlformats.org/officeDocument/2006/relationships" id="2147483651" r:id="Ra8a65619f63e4d42"/>
    <p:sldLayoutId xmlns:r="http://schemas.openxmlformats.org/officeDocument/2006/relationships" id="2147483652" r:id="R60e4c76749c5496d"/>
    <p:sldLayoutId xmlns:r="http://schemas.openxmlformats.org/officeDocument/2006/relationships" id="2147483653" r:id="R785cab1bba3847d1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3c6a011eb4b6e" /><Relationship Type="http://schemas.openxmlformats.org/officeDocument/2006/relationships/notesSlide" Target="/ppt/notesSlides/notesSlide1.xml" Id="Raea2b5607d8e4a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1fec82d4b42fc" /><Relationship Type="http://schemas.openxmlformats.org/officeDocument/2006/relationships/notesSlide" Target="/ppt/notesSlides/notesSlide2.xml" Id="R73774df0cecd4d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172aa7ce34369" /><Relationship Type="http://schemas.openxmlformats.org/officeDocument/2006/relationships/notesSlide" Target="/ppt/notesSlides/notesSlide3.xml" Id="R9e5429b65cbc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f7cf1609c461b" /><Relationship Type="http://schemas.openxmlformats.org/officeDocument/2006/relationships/notesSlide" Target="/ppt/notesSlides/notesSlide4.xml" Id="Rc45ab4c9db5d41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0" name="HeroNumber">
            <a:extLst xmlns:a="http://schemas.openxmlformats.org/drawingml/2006/main">
              <a:ext uri="{FF2B5EF4-FFF2-40B4-BE49-F238E27FC236}">
                <a16:creationId xmlns:a16="http://schemas.microsoft.com/office/drawing/2014/main" id="{983257E1-3086-4DBB-BA63-ADCDD36A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1080000"/>
            <a:ext cx="1800000" cy="180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0001" name="CoverTitle">
            <a:extLst xmlns:a="http://schemas.openxmlformats.org/drawingml/2006/main">
              <a:ext uri="{FF2B5EF4-FFF2-40B4-BE49-F238E27FC236}">
                <a16:creationId xmlns:a16="http://schemas.microsoft.com/office/drawing/2014/main" id="{6E2241EE-80FD-4003-9FFD-A17C6D49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000" y="1152000"/>
            <a:ext cx="8460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用历史记录解释预测错误</a:t>
            </a:r>
          </a:p>
        </p:txBody>
      </p:sp>
      <p:sp>
        <p:nvSpPr>
          <p:cNvPr id="100002" name="CoverBody">
            <a:extLst xmlns:a="http://schemas.openxmlformats.org/drawingml/2006/main">
              <a:ext uri="{FF2B5EF4-FFF2-40B4-BE49-F238E27FC236}">
                <a16:creationId xmlns:a16="http://schemas.microsoft.com/office/drawing/2014/main" id="{BBA0F3CB-EAF8-48FD-B721-5ECD5F32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000" y="2160000"/>
            <a:ext cx="79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98783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D6F5EE"/>
                </a:solidFill>
                <a:latin typeface="Microsoft YaHei"/>
                <a:ea typeface="Microsoft YaHei"/>
                <a:cs typeface="Microsoft YaHei"/>
              </a:rPr>
              <a:t>博物馆教育团队用 891 条 Titanic 乘客记录，比较多数类基线与随机森林，并检查留出记录中的误判。</a:t>
            </a:r>
          </a:p>
        </p:txBody>
      </p:sp>
      <p:sp>
        <p:nvSpPr>
          <p:cNvPr id="100003" name="CoverMeta">
            <a:extLst xmlns:a="http://schemas.openxmlformats.org/drawingml/2006/main">
              <a:ext uri="{FF2B5EF4-FFF2-40B4-BE49-F238E27FC236}">
                <a16:creationId xmlns:a16="http://schemas.microsoft.com/office/drawing/2014/main" id="{A0C50894-CA67-4C73-98FE-92B5FD5A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000" y="4572000"/>
            <a:ext cx="72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8DDDD0"/>
                </a:solidFill>
                <a:latin typeface="Microsoft YaHei"/>
                <a:ea typeface="Microsoft YaHei"/>
                <a:cs typeface="Microsoft YaHei"/>
              </a:rPr>
              <a:t>历史观察数据 · 不用于现代救援决策</a:t>
            </a:r>
          </a:p>
        </p:txBody>
      </p:sp>
    </p:spTree>
    <p:extLst>
      <p:ext uri="{BB962C8B-B14F-4D97-AF65-F5344CB8AC3E}">
        <p14:creationId xmlns:p14="http://schemas.microsoft.com/office/powerpoint/2010/main" val="972829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04" name="Kicker">
            <a:extLst xmlns:a="http://schemas.openxmlformats.org/drawingml/2006/main">
              <a:ext uri="{FF2B5EF4-FFF2-40B4-BE49-F238E27FC236}">
                <a16:creationId xmlns:a16="http://schemas.microsoft.com/office/drawing/2014/main" id="{1AAF945A-9B72-450D-A5C8-BC647B67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94488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28090"/>
                </a:solidFill>
                <a:latin typeface="Microsoft YaHei"/>
                <a:ea typeface="Microsoft YaHei"/>
                <a:cs typeface="Microsoft YaHei"/>
              </a:rPr>
              <a:t>02 · 方法</a:t>
            </a:r>
          </a:p>
        </p:txBody>
      </p:sp>
      <p:sp>
        <p:nvSpPr>
          <p:cNvPr id="100005" name="Title">
            <a:extLst xmlns:a="http://schemas.openxmlformats.org/drawingml/2006/main">
              <a:ext uri="{FF2B5EF4-FFF2-40B4-BE49-F238E27FC236}">
                <a16:creationId xmlns:a16="http://schemas.microsoft.com/office/drawing/2014/main" id="{01087958-4049-4C4D-9760-C83B4BD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 b="1">
                <a:solidFill>
                  <a:srgbClr val="183B45"/>
                </a:solidFill>
                <a:latin typeface="Microsoft YaHei"/>
                <a:ea typeface="Microsoft YaHei"/>
                <a:cs typeface="Microsoft YaHei"/>
              </a:rPr>
              <a:t>同一留出集，才是公平比较</a:t>
            </a:r>
          </a:p>
        </p:txBody>
      </p:sp>
      <p:sp>
        <p:nvSpPr>
          <p:cNvPr id="100006" name="PageMark">
            <a:extLst xmlns:a="http://schemas.openxmlformats.org/drawingml/2006/main">
              <a:ext uri="{FF2B5EF4-FFF2-40B4-BE49-F238E27FC236}">
                <a16:creationId xmlns:a16="http://schemas.microsoft.com/office/drawing/2014/main" id="{815C3F0F-E0AB-4745-BBE0-9319E6C7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Input">
            <a:extLst xmlns:a="http://schemas.openxmlformats.org/drawingml/2006/main">
              <a:ext uri="{FF2B5EF4-FFF2-40B4-BE49-F238E27FC236}">
                <a16:creationId xmlns:a16="http://schemas.microsoft.com/office/drawing/2014/main" id="{74C7FD0B-E98D-4A14-AE01-5921E515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23A3A"/>
                </a:solidFill>
                <a:latin typeface="Microsoft YaHei"/>
                <a:ea typeface="Microsoft YaHei"/>
                <a:cs typeface="Microsoft YaHei"/>
              </a:rPr>
              <a:t>Kaggle train.csv</a:t>
            </a:r>
          </a:p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23A3A"/>
                </a:solidFill>
                <a:latin typeface="Microsoft YaHei"/>
                <a:ea typeface="Microsoft YaHei"/>
                <a:cs typeface="Microsoft YaHei"/>
              </a:rPr>
              <a:t>891 行 · 检查通过</a:t>
            </a:r>
          </a:p>
        </p:txBody>
      </p:sp>
      <p:sp>
        <p:nvSpPr>
          <p:cNvPr id="100008" name="Baseline">
            <a:extLst xmlns:a="http://schemas.openxmlformats.org/drawingml/2006/main">
              <a:ext uri="{FF2B5EF4-FFF2-40B4-BE49-F238E27FC236}">
                <a16:creationId xmlns:a16="http://schemas.microsoft.com/office/drawing/2014/main" id="{B634D994-4694-41D2-8A3D-9048C456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73F5F"/>
                </a:solidFill>
                <a:latin typeface="Microsoft YaHei"/>
                <a:ea typeface="Microsoft YaHei"/>
                <a:cs typeface="Microsoft YaHei"/>
              </a:rPr>
              <a:t>多数类基线</a:t>
            </a:r>
          </a:p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73F5F"/>
                </a:solidFill>
                <a:latin typeface="Microsoft YaHei"/>
                <a:ea typeface="Microsoft YaHei"/>
                <a:cs typeface="Microsoft YaHei"/>
              </a:rPr>
              <a:t>始终预测 0</a:t>
            </a:r>
          </a:p>
        </p:txBody>
      </p:sp>
      <p:sp>
        <p:nvSpPr>
          <p:cNvPr id="100009" name="Candidate">
            <a:extLst xmlns:a="http://schemas.openxmlformats.org/drawingml/2006/main">
              <a:ext uri="{FF2B5EF4-FFF2-40B4-BE49-F238E27FC236}">
                <a16:creationId xmlns:a16="http://schemas.microsoft.com/office/drawing/2014/main" id="{E792AF93-315E-4C45-B8CF-47245BE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000" y="2160000"/>
            <a:ext cx="2988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6B3E16"/>
                </a:solidFill>
                <a:latin typeface="Microsoft YaHei"/>
                <a:ea typeface="Microsoft YaHei"/>
                <a:cs typeface="Microsoft YaHei"/>
              </a:rPr>
              <a:t>随机森林</a:t>
            </a:r>
          </a:p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6B3E16"/>
                </a:solidFill>
                <a:latin typeface="Microsoft YaHei"/>
                <a:ea typeface="Microsoft YaHei"/>
                <a:cs typeface="Microsoft YaHei"/>
              </a:rPr>
              <a:t>随机种子 42</a:t>
            </a:r>
          </a:p>
        </p:txBody>
      </p:sp>
      <p:sp>
        <p:nvSpPr>
          <p:cNvPr id="100010" name="MethodPrompt">
            <a:extLst xmlns:a="http://schemas.openxmlformats.org/drawingml/2006/main">
              <a:ext uri="{FF2B5EF4-FFF2-40B4-BE49-F238E27FC236}">
                <a16:creationId xmlns:a16="http://schemas.microsoft.com/office/drawing/2014/main" id="{66204984-84C1-491A-B43D-B3230572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00" y="4680000"/>
            <a:ext cx="10008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39545B"/>
                </a:solidFill>
                <a:latin typeface="Microsoft YaHei"/>
                <a:ea typeface="Microsoft YaHei"/>
                <a:cs typeface="Microsoft YaHei"/>
              </a:rPr>
              <a:t>固定 75/25 分层划分；同一 223 行测试集、同一特征与指标。</a:t>
            </a:r>
          </a:p>
        </p:txBody>
      </p:sp>
    </p:spTree>
    <p:extLst>
      <p:ext uri="{BB962C8B-B14F-4D97-AF65-F5344CB8AC3E}">
        <p14:creationId xmlns:p14="http://schemas.microsoft.com/office/powerpoint/2010/main" val="1604248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11" name="Kicker">
            <a:extLst xmlns:a="http://schemas.openxmlformats.org/drawingml/2006/main">
              <a:ext uri="{FF2B5EF4-FFF2-40B4-BE49-F238E27FC236}">
                <a16:creationId xmlns:a16="http://schemas.microsoft.com/office/drawing/2014/main" id="{6A682114-63A5-4AC8-A88B-6D626A03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52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94488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28090"/>
                </a:solidFill>
                <a:latin typeface="Microsoft YaHei"/>
                <a:ea typeface="Microsoft YaHei"/>
                <a:cs typeface="Microsoft YaHei"/>
              </a:rPr>
              <a:t>03 · 结果</a:t>
            </a:r>
          </a:p>
        </p:txBody>
      </p:sp>
      <p:sp>
        <p:nvSpPr>
          <p:cNvPr id="100012" name="Title">
            <a:extLst xmlns:a="http://schemas.openxmlformats.org/drawingml/2006/main">
              <a:ext uri="{FF2B5EF4-FFF2-40B4-BE49-F238E27FC236}">
                <a16:creationId xmlns:a16="http://schemas.microsoft.com/office/drawing/2014/main" id="{DCF69D86-5EFF-42F9-A1C6-EB10ED70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58000"/>
            <a:ext cx="10980000" cy="75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 b="1">
                <a:solidFill>
                  <a:srgbClr val="183B45"/>
                </a:solidFill>
                <a:latin typeface="Microsoft YaHei"/>
                <a:ea typeface="Microsoft YaHei"/>
                <a:cs typeface="Microsoft YaHei"/>
              </a:rPr>
              <a:t>候选模型识别了 62.8% 的幸存者</a:t>
            </a:r>
          </a:p>
        </p:txBody>
      </p:sp>
      <p:sp>
        <p:nvSpPr>
          <p:cNvPr id="100013" name="PageMark">
            <a:extLst xmlns:a="http://schemas.openxmlformats.org/drawingml/2006/main">
              <a:ext uri="{FF2B5EF4-FFF2-40B4-BE49-F238E27FC236}">
                <a16:creationId xmlns:a16="http://schemas.microsoft.com/office/drawing/2014/main" id="{6360410C-3721-44AD-9DAB-603A767C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2000" y="252000"/>
            <a:ext cx="396000" cy="39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Metric">
            <a:extLst xmlns:a="http://schemas.openxmlformats.org/drawingml/2006/main">
              <a:ext uri="{FF2B5EF4-FFF2-40B4-BE49-F238E27FC236}">
                <a16:creationId xmlns:a16="http://schemas.microsoft.com/office/drawing/2014/main" id="{AC882B2F-C9B6-4631-B503-77C472ED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800000"/>
            <a:ext cx="5292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3B4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幸存者召回率</a:t>
            </a:r>
          </a:p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0% → 62.8%</a:t>
            </a:r>
          </a:p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准确率 61.4% → 74.4%</a:t>
            </a:r>
          </a:p>
        </p:txBody>
      </p:sp>
      <p:sp>
        <p:nvSpPr>
          <p:cNvPr id="100015" name="Case">
            <a:extLst xmlns:a="http://schemas.openxmlformats.org/drawingml/2006/main">
              <a:ext uri="{FF2B5EF4-FFF2-40B4-BE49-F238E27FC236}">
                <a16:creationId xmlns:a16="http://schemas.microsoft.com/office/drawing/2014/main" id="{A6F780E6-F0FE-48F1-B1C1-7CBFBCD9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6000" y="1800000"/>
            <a:ext cx="5436000" cy="226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乘客 502 · 假阳性</a:t>
            </a:r>
          </a:p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实际 0 / 预测 1</a:t>
            </a:r>
          </a:p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83B35"/>
                </a:solidFill>
                <a:latin typeface="Microsoft YaHei"/>
                <a:ea typeface="Microsoft YaHei"/>
                <a:cs typeface="Microsoft YaHei"/>
              </a:rPr>
              <a:t>女性 · 21 岁 · 3 等舱</a:t>
            </a:r>
          </a:p>
        </p:txBody>
      </p:sp>
      <p:sp>
        <p:nvSpPr>
          <p:cNvPr id="100016" name="EvidencePrompt">
            <a:extLst xmlns:a="http://schemas.openxmlformats.org/drawingml/2006/main">
              <a:ext uri="{FF2B5EF4-FFF2-40B4-BE49-F238E27FC236}">
                <a16:creationId xmlns:a16="http://schemas.microsoft.com/office/drawing/2014/main" id="{244A42B6-BB21-4339-9043-78B4F658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4680000"/>
            <a:ext cx="1058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0">
                <a:solidFill>
                  <a:srgbClr val="39545B"/>
                </a:solidFill>
                <a:latin typeface="Microsoft YaHei"/>
                <a:ea typeface="Microsoft YaHei"/>
                <a:cs typeface="Microsoft YaHei"/>
              </a:rPr>
              <a:t>223 条留出记录 · 候选 F1 = 0.655 · 运行 python train.py 可复现</a:t>
            </a:r>
          </a:p>
        </p:txBody>
      </p:sp>
    </p:spTree>
    <p:extLst>
      <p:ext uri="{BB962C8B-B14F-4D97-AF65-F5344CB8AC3E}">
        <p14:creationId xmlns:p14="http://schemas.microsoft.com/office/powerpoint/2010/main" val="2044052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017" name="EndTitle">
            <a:extLst xmlns:a="http://schemas.openxmlformats.org/drawingml/2006/main">
              <a:ext uri="{FF2B5EF4-FFF2-40B4-BE49-F238E27FC236}">
                <a16:creationId xmlns:a16="http://schemas.microsoft.com/office/drawing/2014/main" id="{E1688851-8F27-4723-86AA-AE1E7FF3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504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候选更好，但仍漏掉 32 名幸存者</a:t>
            </a:r>
          </a:p>
        </p:txBody>
      </p:sp>
      <p:sp>
        <p:nvSpPr>
          <p:cNvPr id="100018" name="Failure">
            <a:extLst xmlns:a="http://schemas.openxmlformats.org/drawingml/2006/main">
              <a:ext uri="{FF2B5EF4-FFF2-40B4-BE49-F238E27FC236}">
                <a16:creationId xmlns:a16="http://schemas.microsoft.com/office/drawing/2014/main" id="{31996359-3CB4-41A6-996C-5D55E82F5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BE4C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6B3E16"/>
                </a:solidFill>
                <a:latin typeface="Microsoft YaHei"/>
                <a:ea typeface="Microsoft YaHei"/>
                <a:cs typeface="Microsoft YaHei"/>
              </a:rPr>
              <a:t>错误类型</a:t>
            </a:r>
          </a:p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6B3E16"/>
                </a:solidFill>
                <a:latin typeface="Microsoft YaHei"/>
                <a:ea typeface="Microsoft YaHei"/>
                <a:cs typeface="Microsoft YaHei"/>
              </a:rPr>
              <a:t>32 个假阴性</a:t>
            </a:r>
          </a:p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6B3E16"/>
                </a:solidFill>
                <a:latin typeface="Microsoft YaHei"/>
                <a:ea typeface="Microsoft YaHei"/>
                <a:cs typeface="Microsoft YaHei"/>
              </a:rPr>
              <a:t>不能只看准确率</a:t>
            </a:r>
          </a:p>
        </p:txBody>
      </p:sp>
      <p:sp>
        <p:nvSpPr>
          <p:cNvPr id="100019" name="Limit">
            <a:extLst xmlns:a="http://schemas.openxmlformats.org/drawingml/2006/main">
              <a:ext uri="{FF2B5EF4-FFF2-40B4-BE49-F238E27FC236}">
                <a16:creationId xmlns:a16="http://schemas.microsoft.com/office/drawing/2014/main" id="{7E826250-DE3E-4443-8649-82DFEAB0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F4E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23A3A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23A3A"/>
                </a:solidFill>
                <a:latin typeface="Microsoft YaHei"/>
                <a:ea typeface="Microsoft YaHei"/>
                <a:cs typeface="Microsoft YaHei"/>
              </a:rPr>
              <a:t>历史相关不等于因果</a:t>
            </a:r>
          </a:p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23A3A"/>
                </a:solidFill>
                <a:latin typeface="Microsoft YaHei"/>
                <a:ea typeface="Microsoft YaHei"/>
                <a:cs typeface="Microsoft YaHei"/>
              </a:rPr>
              <a:t>不用于现代救援</a:t>
            </a:r>
          </a:p>
        </p:txBody>
      </p:sp>
      <p:sp>
        <p:nvSpPr>
          <p:cNvPr id="100020" name="Next">
            <a:extLst xmlns:a="http://schemas.openxmlformats.org/drawingml/2006/main">
              <a:ext uri="{FF2B5EF4-FFF2-40B4-BE49-F238E27FC236}">
                <a16:creationId xmlns:a16="http://schemas.microsoft.com/office/drawing/2014/main" id="{9797FBEC-9D6C-4F07-92FE-0204ED3B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000" y="1800000"/>
            <a:ext cx="3456000" cy="208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9E8F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90000" tIns="90000" rIns="90000" bIns="900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73F5F"/>
                </a:solidFill>
                <a:latin typeface="Microsoft YaHei"/>
                <a:ea typeface="Microsoft YaHei"/>
                <a:cs typeface="Microsoft YaHei"/>
              </a:rPr>
              <a:t>下一项最小检查</a:t>
            </a:r>
          </a:p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73F5F"/>
                </a:solidFill>
                <a:latin typeface="Microsoft YaHei"/>
                <a:ea typeface="Microsoft YaHei"/>
                <a:cs typeface="Microsoft YaHei"/>
              </a:rPr>
              <a:t>按舱位和性别分组</a:t>
            </a:r>
          </a:p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173F5F"/>
                </a:solidFill>
                <a:latin typeface="Microsoft YaHei"/>
                <a:ea typeface="Microsoft YaHei"/>
                <a:cs typeface="Microsoft YaHei"/>
              </a:rPr>
              <a:t>比较召回率</a:t>
            </a:r>
          </a:p>
        </p:txBody>
      </p:sp>
      <p:sp>
        <p:nvSpPr>
          <p:cNvPr id="100021" name="EndMeta">
            <a:extLst xmlns:a="http://schemas.openxmlformats.org/drawingml/2006/main">
              <a:ext uri="{FF2B5EF4-FFF2-40B4-BE49-F238E27FC236}">
                <a16:creationId xmlns:a16="http://schemas.microsoft.com/office/drawing/2014/main" id="{A4D9B5B8-8C48-4E39-896C-1D5F9F35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0" y="4680000"/>
            <a:ext cx="10764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43200" tIns="43200" rIns="43200" bIns="43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D6F5EE"/>
                </a:solidFill>
                <a:latin typeface="Microsoft YaHei"/>
                <a:ea typeface="Microsoft YaHei"/>
                <a:cs typeface="Microsoft YaHei"/>
              </a:rPr>
              <a:t>数据检查通过 · 3/3 测试通过 · 运行命令：python train.py</a:t>
            </a:r>
          </a:p>
        </p:txBody>
      </p:sp>
    </p:spTree>
    <p:extLst>
      <p:ext uri="{BB962C8B-B14F-4D97-AF65-F5344CB8AC3E}">
        <p14:creationId xmlns:p14="http://schemas.microsoft.com/office/powerpoint/2010/main" val="8118893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2026-08-17T16:06:17.4590000Z</dcterms:created>
  <dcterms:modified xsi:type="dcterms:W3CDTF">2026-08-17T16:06:17.4590000Z</dcterms:modified>
</coreProperties>
</file>